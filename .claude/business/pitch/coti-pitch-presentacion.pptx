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38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Coti te dice cuánto necesitas ahorrar para el viaje que quieres, y te acompaña hasta que llegues. Cinco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que la gente no quiera viajar: es que nadie le pone un número. Sin número no hay meta, y sin meta el viaje se queda en fantasía. Contra eso competimos.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Coti proyecta, no reserva. No busca vuelos, no cotiza hoteles, no procesa pagos. Y por eso el rango estimado es suficiente: la meta es que la persona se mueva, no que compare precios.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momentos. Lo importante: el valor llega antes que los datos. El rango aparece en el paso tres, antes de pedir información financiera.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Coti de principio a fin. Destino y fechas, tu estilo de viaje, tus atracciones must go, y la proyección con su rango.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mitad: definir el plan de ahorro, el punto de partida, activar los recordatorios, y la cajita con el seguimiento de progreso.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valor emocional del producto. Micro-celebraciones en cada hito y un mensaje de Coti cada vez que registras un depósito. Es lo que sostiene el hábito durante los meses que toma llegar.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capas. La gratuita hace que el producto valga la pena por sí solo. La suscripción es para quien planea más de un viaje. Y las alianzas son recomendación, nunca venta: eso protegería el principio 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es lo que construimos en el workshop: web app, rangos curados, correo. Fase 2 abre destinos y móvil. Fase 3 es ahorro compartido y alianzas. Reservación y pagos no están en el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personas: arquitectura frontend y móvil, diseño de producto y flujos de pago, backend e IA, ciencia de datos, y alguien que vive la regulación financiera en México todos los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Coti nace de una idea simple: que conocer el mundo sí es accesible a esta edad, si alguien te ayuda a hacer las cuentas. El mundo sí es para ti.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2040850"/>
            <a:ext cx="3810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3793450"/>
            <a:ext cx="8467659" cy="1532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333"/>
              </a:lnSpc>
              <a:buNone/>
            </a:pPr>
            <a:r>
              <a:rPr lang="en-US" sz="5550" b="1" kern="0" spc="-139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Proyecta tu viaje. Ahorra con Coti.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1047750" y="5611535"/>
            <a:ext cx="5592128" cy="206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258"/>
              </a:lnSpc>
              <a:buNone/>
            </a:pPr>
            <a:r>
              <a:rPr lang="en-US" sz="2850" dirty="0">
                <a:solidFill>
                  <a:srgbClr val="FEFBF3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 decimos cuánto necesitas ahorrar para el viaje que quieres — y te acompañamos hasta que llegues.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047750" y="8180427"/>
            <a:ext cx="533400" cy="38100"/>
          </a:xfrm>
          <a:prstGeom prst="roundRect">
            <a:avLst>
              <a:gd name="adj" fmla="val 50000"/>
            </a:avLst>
          </a:prstGeom>
          <a:solidFill>
            <a:srgbClr val="E15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52600" y="8038505"/>
            <a:ext cx="7189661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kern="0" spc="98" dirty="0">
                <a:solidFill>
                  <a:srgbClr val="FEFBF3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Workshop de Claude Code · Wizeline · Agosto 2026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68464" y="2837617"/>
            <a:ext cx="5905500" cy="4726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713" r="62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EFBF3">
                  <a:alpha val="100000"/>
                </a:srgbClr>
              </a:gs>
              <a:gs pos="44000">
                <a:srgbClr val="FEFBF3">
                  <a:alpha val="98000"/>
                </a:srgbClr>
              </a:gs>
              <a:gs pos="58000">
                <a:srgbClr val="FEFBF3">
                  <a:alpha val="85000"/>
                </a:srgbClr>
              </a:gs>
              <a:gs pos="78000">
                <a:srgbClr val="FEFBF3">
                  <a:alpha val="0"/>
                </a:srgbClr>
              </a:gs>
            </a:gsLst>
            <a:lin ang="6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47750" y="3065383"/>
            <a:ext cx="8851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720703"/>
            <a:ext cx="5405723" cy="286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4350" kern="0" spc="-65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“Conocer el mundo no es para mí. No a esta edad, no con lo que gano.”</a:t>
            </a:r>
            <a:endParaRPr lang="en-US" sz="4350" dirty="0"/>
          </a:p>
        </p:txBody>
      </p:sp>
      <p:sp>
        <p:nvSpPr>
          <p:cNvPr id="6" name="Shape 3"/>
          <p:cNvSpPr/>
          <p:nvPr/>
        </p:nvSpPr>
        <p:spPr>
          <a:xfrm>
            <a:off x="1047750" y="6930152"/>
            <a:ext cx="8046720" cy="9525"/>
          </a:xfrm>
          <a:prstGeom prst="rect">
            <a:avLst/>
          </a:prstGeom>
          <a:solidFill>
            <a:srgbClr val="503A1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47750" y="7109222"/>
            <a:ext cx="8288121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375"/>
              </a:lnSpc>
              <a:buNone/>
            </a:pPr>
            <a:r>
              <a:rPr lang="en-US" sz="2325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Nadie le ha puesto un número al viaje que quiere. Sin número no hay meta, y sin meta no hay ahorro.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1047750" y="8194120"/>
            <a:ext cx="8288121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375"/>
              </a:lnSpc>
              <a:buNone/>
            </a:pPr>
            <a:r>
              <a:rPr lang="en-US" sz="2325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competimos contra un buscador de vuelos. Competimos contra una creencia.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ES COTI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07820"/>
            <a:ext cx="16678275" cy="158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Una cuenta clara del viaje que quieres, y alguien que te acompaña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047750" y="3634740"/>
            <a:ext cx="5206961" cy="3021330"/>
          </a:xfrm>
          <a:prstGeom prst="roundRect">
            <a:avLst>
              <a:gd name="adj" fmla="val 5044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4061460"/>
            <a:ext cx="48726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800" b="1" kern="0" spc="180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6370" y="4461510"/>
            <a:ext cx="4872692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Proyecta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36370" y="5114925"/>
            <a:ext cx="456261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rango creíble de lo que cuesta ese viaje con tus fechas, tus días y tu gente.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40461" y="3634740"/>
            <a:ext cx="5206961" cy="3021330"/>
          </a:xfrm>
          <a:prstGeom prst="roundRect">
            <a:avLst>
              <a:gd name="adj" fmla="val 5044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29081" y="4061460"/>
            <a:ext cx="48726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800" b="1" kern="0" spc="180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29081" y="4461510"/>
            <a:ext cx="4872692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Planea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929081" y="5114925"/>
            <a:ext cx="456261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Cuánto guardar por semana, mes o trimestre para llegar a tiempo.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33171" y="3634740"/>
            <a:ext cx="5206961" cy="3021330"/>
          </a:xfrm>
          <a:prstGeom prst="roundRect">
            <a:avLst>
              <a:gd name="adj" fmla="val 5044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21791" y="4061460"/>
            <a:ext cx="48726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800" b="1" kern="0" spc="180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21791" y="4461510"/>
            <a:ext cx="4872692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Acompaña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21791" y="5114925"/>
            <a:ext cx="456261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cajita de ahorro se llena, celebra tus hitos y te recuerda volver.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7075170"/>
            <a:ext cx="16192500" cy="1084421"/>
          </a:xfrm>
          <a:prstGeom prst="roundRect">
            <a:avLst>
              <a:gd name="adj" fmla="val 14054"/>
            </a:avLst>
          </a:prstGeom>
          <a:solidFill>
            <a:srgbClr val="305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66850" y="7480221"/>
            <a:ext cx="2850273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52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PRINCIPIO RECTOR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62807" y="7418070"/>
            <a:ext cx="12149709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25"/>
              </a:lnSpc>
              <a:buNone/>
            </a:pPr>
            <a:r>
              <a:rPr lang="en-US" sz="2325" dirty="0">
                <a:solidFill>
                  <a:srgbClr val="FEFB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Coti proyecta, no reserva: no busca vuelos, no cotiza hoteles, no procesa pagos.</a:t>
            </a:r>
            <a:endParaRPr lang="en-US" sz="23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FLUJO DEL USUARIO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07820"/>
            <a:ext cx="17811750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Cuatro momentos, de la idea al hábito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047750" y="2859405"/>
            <a:ext cx="3890962" cy="3085147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60170" y="3248025"/>
            <a:ext cx="359273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DDB16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60170" y="3914775"/>
            <a:ext cx="359273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Definir el viaje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60170" y="4478655"/>
            <a:ext cx="336410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Destino, fechas, días de estancia y cuántas personas van.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48263" y="2859405"/>
            <a:ext cx="3890962" cy="3085147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60682" y="3248025"/>
            <a:ext cx="359273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DDB16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5460682" y="3914775"/>
            <a:ext cx="359273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Quiz de estilo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60682" y="4478655"/>
            <a:ext cx="336410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Atracciones marcadas como must go o would be nice.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48775" y="2859405"/>
            <a:ext cx="3890962" cy="3085147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61195" y="3248025"/>
            <a:ext cx="359273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DDB16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9561195" y="3914775"/>
            <a:ext cx="359273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Ver la proyección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61195" y="4478655"/>
            <a:ext cx="336410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rango mínimo y máximo del costo total, con sus supuestos.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49288" y="2859405"/>
            <a:ext cx="3890962" cy="3085147"/>
          </a:xfrm>
          <a:prstGeom prst="roundRect">
            <a:avLst>
              <a:gd name="adj" fmla="val 4940"/>
            </a:avLst>
          </a:prstGeom>
          <a:solidFill>
            <a:srgbClr val="305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54088" y="3240405"/>
            <a:ext cx="360949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E39B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13654088" y="3907155"/>
            <a:ext cx="360949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Abrir la cajita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654088" y="4471035"/>
            <a:ext cx="337980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FEFBF3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de ahorro, monto inicial, recordatorios y seguimiento.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6363653"/>
            <a:ext cx="17811750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antes que datos: el rango se ve antes de pedir información financiera.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4736354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Así se ve Coti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13125570" y="1318260"/>
            <a:ext cx="45261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52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DE 2 · DEFINIR Y PROYECTAR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074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933694" y="2040255"/>
            <a:ext cx="3216950" cy="69456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27484" y="9164955"/>
            <a:ext cx="179230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Definir el viaje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660589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5668209" y="2040255"/>
            <a:ext cx="3216950" cy="6945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7716" y="9164955"/>
            <a:ext cx="173572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Quiz de estilo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395103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9402723" y="2040255"/>
            <a:ext cx="3216950" cy="6945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09027" y="9164955"/>
            <a:ext cx="154477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Atracciones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13129617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3137238" y="2040255"/>
            <a:ext cx="3216950" cy="69456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926622" y="9164955"/>
            <a:ext cx="180213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proyección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4736354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Así se ve Coti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13383935" y="1318260"/>
            <a:ext cx="42419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52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DE 2 · AHORRAR Y LLEGAR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074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933694" y="2040255"/>
            <a:ext cx="3216950" cy="69456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01290" y="9164955"/>
            <a:ext cx="1849934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de ahorro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660589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5668209" y="2040255"/>
            <a:ext cx="3216950" cy="6945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7811" y="9164955"/>
            <a:ext cx="215365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Punto de partida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395103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9402723" y="2040255"/>
            <a:ext cx="3216950" cy="6945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1613" y="9164955"/>
            <a:ext cx="211121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Activar el ahorro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13129617" y="2032635"/>
            <a:ext cx="3232190" cy="6960870"/>
          </a:xfrm>
          <a:prstGeom prst="roundRect">
            <a:avLst>
              <a:gd name="adj" fmla="val 8251"/>
            </a:avLst>
          </a:prstGeom>
          <a:solidFill>
            <a:srgbClr val="FEFBF3"/>
          </a:solidFill>
          <a:ln w="7620">
            <a:solidFill>
              <a:srgbClr val="503A1C">
                <a:alpha val="14000"/>
              </a:srgbClr>
            </a:solidFill>
            <a:prstDash val="solid"/>
          </a:ln>
          <a:effectLst>
            <a:outerShdw blurRad="228600" dist="76200" dir="5400000" algn="bl" rotWithShape="0">
              <a:srgbClr val="1220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3137238" y="2040255"/>
            <a:ext cx="3216950" cy="69456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659327" y="9164955"/>
            <a:ext cx="239004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cajita de ahorro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48280" cy="10287000"/>
          </a:xfrm>
          <a:prstGeom prst="rect">
            <a:avLst/>
          </a:prstGeom>
          <a:solidFill>
            <a:srgbClr val="FEFB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2532459"/>
            <a:ext cx="91671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CAJITA DE AHORRO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168730"/>
            <a:ext cx="8583793" cy="1379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4800" b="1" kern="0" spc="-96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seguimiento visual es lo que sostiene el hábito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4955620"/>
            <a:ext cx="324082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325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Avance hacia la meta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8396407" y="4871799"/>
            <a:ext cx="106132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450" b="1" dirty="0">
                <a:solidFill>
                  <a:srgbClr val="E15D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50%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47750" y="5481400"/>
            <a:ext cx="8333780" cy="247650"/>
          </a:xfrm>
          <a:prstGeom prst="roundRect">
            <a:avLst>
              <a:gd name="adj" fmla="val 50000"/>
            </a:avLst>
          </a:prstGeom>
          <a:solidFill>
            <a:srgbClr val="503A1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5481400"/>
            <a:ext cx="4166830" cy="247650"/>
          </a:xfrm>
          <a:prstGeom prst="roundRect">
            <a:avLst>
              <a:gd name="adj" fmla="val 50000"/>
            </a:avLst>
          </a:prstGeom>
          <a:solidFill>
            <a:srgbClr val="E39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5900500"/>
            <a:ext cx="574238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625215" y="5900500"/>
            <a:ext cx="60245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231017" y="5900500"/>
            <a:ext cx="55733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75%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791575" y="5900500"/>
            <a:ext cx="66615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6584395"/>
            <a:ext cx="6690932" cy="1322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375"/>
              </a:lnSpc>
              <a:buNone/>
            </a:pPr>
            <a:r>
              <a:rPr lang="en-US" sz="2325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Micro-celebraciones en cada hito, recordatorios por correo y un mensaje de Coti cada vez que registras un depósito.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0048280" y="0"/>
            <a:ext cx="8239720" cy="10287000"/>
          </a:xfrm>
          <a:prstGeom prst="rect">
            <a:avLst/>
          </a:prstGeom>
          <a:solidFill>
            <a:srgbClr val="FE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t="-35040" b="-35040"/>
          <a:stretch/>
        </p:blipFill>
        <p:spPr>
          <a:xfrm>
            <a:off x="10619780" y="571500"/>
            <a:ext cx="709672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NEGOCIO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07820"/>
            <a:ext cx="17811750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Tres capas, sin tocar el dinero del usuario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047750" y="2859405"/>
            <a:ext cx="5051227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3305175"/>
            <a:ext cx="47013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DDB1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GRATIS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6370" y="3769995"/>
            <a:ext cx="4701385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15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 viaje, completo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36370" y="4420553"/>
            <a:ext cx="440220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Proyección, plan de ahorro, cajita y recordatorios. Suficiente para llegar a un viaje.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365677" y="2859405"/>
            <a:ext cx="5556528" cy="3581400"/>
          </a:xfrm>
          <a:prstGeom prst="roundRect">
            <a:avLst>
              <a:gd name="adj" fmla="val 4255"/>
            </a:avLst>
          </a:prstGeom>
          <a:solidFill>
            <a:srgbClr val="305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46677" y="3297555"/>
            <a:ext cx="5273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SUSCRIPCIÓN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46677" y="3762375"/>
            <a:ext cx="5273981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150" b="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Coti Plus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746677" y="4412933"/>
            <a:ext cx="493836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FEFBF3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Varios viajes a la vez, ajuste por temporada, escenarios comparados y exportar el plan.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188905" y="2859405"/>
            <a:ext cx="5051346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577524" y="3305175"/>
            <a:ext cx="47015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DDB1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ALIANZAS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577524" y="3769995"/>
            <a:ext cx="4402329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15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Recomendar, no vender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577524" y="4880610"/>
            <a:ext cx="4402329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Destinos y experiencias de socios, presentados sin reservar ni cobrar dentro de Coti.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750" y="6859905"/>
            <a:ext cx="17811750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Hipótesis de monetización a validar con los primeros usuarios.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0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07820"/>
            <a:ext cx="17811750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 un viaje proyectado a muchos acompañados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047750" y="2859405"/>
            <a:ext cx="5194221" cy="45720"/>
          </a:xfrm>
          <a:prstGeom prst="rect">
            <a:avLst/>
          </a:prstGeom>
          <a:solidFill>
            <a:srgbClr val="E15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190875"/>
            <a:ext cx="57136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1 · AGOSTO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674745"/>
            <a:ext cx="5713643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MVP del workshop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4366260"/>
            <a:ext cx="535004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FEFBF3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app con proyección por rangos, plan de ahorro, cajita y recordatorios por correo.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46771" y="2859405"/>
            <a:ext cx="5194340" cy="45720"/>
          </a:xfrm>
          <a:prstGeom prst="rect">
            <a:avLst/>
          </a:prstGeom>
          <a:solidFill>
            <a:srgbClr val="FEFBF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46771" y="3190875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FEFBF3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46771" y="3674745"/>
            <a:ext cx="5713774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Más destinos, más viajes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546771" y="4366260"/>
            <a:ext cx="5350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FEFBF3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rangos ampliada por temporada, varios planes en paralelo y app móvil.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45910" y="2859405"/>
            <a:ext cx="5194340" cy="45720"/>
          </a:xfrm>
          <a:prstGeom prst="rect">
            <a:avLst/>
          </a:prstGeom>
          <a:solidFill>
            <a:srgbClr val="FEFBF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45910" y="3190875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16" dirty="0">
                <a:solidFill>
                  <a:srgbClr val="FEFBF3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45910" y="3674745"/>
            <a:ext cx="5713774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300" b="1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Ahorro compartido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045910" y="4366260"/>
            <a:ext cx="5350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71"/>
              </a:lnSpc>
              <a:buNone/>
            </a:pPr>
            <a:r>
              <a:rPr lang="en-US" sz="1950" dirty="0">
                <a:solidFill>
                  <a:srgbClr val="FEFBF3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Viajes en grupo con metas compartidas y alianzas con marcas de viaje.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750" y="5528310"/>
            <a:ext cx="17811750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02"/>
              </a:lnSpc>
              <a:buNone/>
            </a:pPr>
            <a:r>
              <a:rPr lang="en-US" sz="1950" dirty="0">
                <a:solidFill>
                  <a:srgbClr val="FEFBF3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Reservación, checkout y procesamiento de pagos quedan fuera del mapa.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15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07820"/>
            <a:ext cx="17811750" cy="813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5550" b="1" kern="0" spc="-11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Siete personas, siete oficios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047750" y="2859405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3171825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Roberto Ramírez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1120" y="3651885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Architect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41120" y="4100513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frontend y adopción de IA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53025" y="2859405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6395" y="3171825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Alfredo Lozoya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46395" y="3651885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&amp; Frontend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46395" y="4100513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Native y design systems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58300" y="2859405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51670" y="3171825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Paola Plascencia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51670" y="3651885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Designer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51670" y="4100513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systems y flujos de pago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63575" y="2859405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56945" y="3171825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Emiliano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656945" y="3651885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Ejecutivo comercial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656945" y="4100513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Regulación financiera y product owner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334953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41120" y="5647373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Ricardo Monroy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41120" y="6127432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Scrum Master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41120" y="6576060"/>
            <a:ext cx="361892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Automatización inteligente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153025" y="5334953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6395" y="5647373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Diego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46395" y="6127432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Científico de datos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446395" y="6576060"/>
            <a:ext cx="361892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Supply chain e IA agéntica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5334953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FFFFFF"/>
          </a:solidFill>
          <a:ln w="7620">
            <a:solidFill>
              <a:srgbClr val="503A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51670" y="5647373"/>
            <a:ext cx="3618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0523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Por confirmar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551670" y="6127432"/>
            <a:ext cx="361892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50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Ingeniera de software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551670" y="6576060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503A1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de alto rendimiento e IA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363575" y="5334953"/>
            <a:ext cx="3876675" cy="2246948"/>
          </a:xfrm>
          <a:prstGeom prst="roundRect">
            <a:avLst>
              <a:gd name="adj" fmla="val 6783"/>
            </a:avLst>
          </a:prstGeom>
          <a:solidFill>
            <a:srgbClr val="305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649325" y="5938361"/>
            <a:ext cx="3404330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950" dirty="0">
                <a:solidFill>
                  <a:srgbClr val="FEFBF3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Frontend, móvil, diseño, datos, backend y regulación financiera en una sola mesa.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0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5718" y="2881889"/>
            <a:ext cx="102417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kern="0" spc="288" dirty="0">
                <a:solidFill>
                  <a:srgbClr val="E39B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 SE PUEDE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35718" y="3537209"/>
            <a:ext cx="10241756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33"/>
              </a:lnSpc>
              <a:buNone/>
            </a:pPr>
            <a:r>
              <a:rPr lang="en-US" sz="7200" b="1" kern="0" spc="-216" dirty="0">
                <a:solidFill>
                  <a:srgbClr val="FEFBF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mundo sí es para ti.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35718" y="4887378"/>
            <a:ext cx="7083362" cy="155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258"/>
              </a:lnSpc>
              <a:buNone/>
            </a:pPr>
            <a:r>
              <a:rPr lang="en-US" sz="2850" dirty="0">
                <a:solidFill>
                  <a:srgbClr val="FEFBF3">
                    <a:alpha val="8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Nosotros hacemos las cuentas. Tú pones la meta — y Coti te acompaña hasta que llegues.</a:t>
            </a:r>
            <a:endParaRPr lang="en-US" sz="2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8501063"/>
            <a:ext cx="1714500" cy="6429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71800" y="8632031"/>
            <a:ext cx="9525" cy="381000"/>
          </a:xfrm>
          <a:prstGeom prst="rect">
            <a:avLst/>
          </a:prstGeom>
          <a:solidFill>
            <a:srgbClr val="FEFBF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90875" y="8661559"/>
            <a:ext cx="5878401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95"/>
              </a:lnSpc>
              <a:buNone/>
            </a:pPr>
            <a:r>
              <a:rPr lang="en-US" sz="1950" dirty="0">
                <a:solidFill>
                  <a:srgbClr val="FEFBF3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Gracias · Workshop de Claude Code · Wizeline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0358438" y="2159794"/>
            <a:ext cx="6881813" cy="6881813"/>
          </a:xfrm>
          <a:prstGeom prst="roundRect">
            <a:avLst>
              <a:gd name="adj" fmla="val 3875"/>
            </a:avLst>
          </a:prstGeom>
          <a:ln/>
          <a:effectLst>
            <a:outerShdw blurRad="571500" dist="2286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30930" r="13256"/>
          <a:stretch/>
        </p:blipFill>
        <p:spPr>
          <a:xfrm>
            <a:off x="10358438" y="2159794"/>
            <a:ext cx="6881813" cy="6881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Microsoft Office PowerPoint</Application>
  <PresentationFormat>Custom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Bricolage Grotesque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Monroy, Ricardo Antonio</cp:lastModifiedBy>
  <cp:revision>2</cp:revision>
  <dcterms:created xsi:type="dcterms:W3CDTF">2026-08-29T22:01:49Z</dcterms:created>
  <dcterms:modified xsi:type="dcterms:W3CDTF">2026-08-29T22:02:57Z</dcterms:modified>
</cp:coreProperties>
</file>